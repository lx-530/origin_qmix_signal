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0"/>
        <p:guide pos="28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我们已经把级联 DQN 的最小工程路径跑通，但还不把它包装成优于 QMIX 的最终结论。今天重点说明三件事，第一是当前代码到底是什么状态，第二是我们如何把 Cascading DQN 思想迁移到信号控制，第三是哪些结果已经验证、哪些结果必须等服务器全量实验回填。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这个问题不能简单理解成“QMIX 不行，所以换 CDQN”。当前仓库实际可见的是十八个智能体，同时原训练配置里 epsilon 退火过快、训练更新次数过少，这两点本身就足以导致不稳定。因此本阶段先建立一个修正后的 QMIX 基线，再实现 CDQN 最小版本，保证后续对比是公平的。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Cascading DQN 对我们的启发，是把组合动作从一次性枚举变成依次选择。原来如果直接看二十四个信号、每个四个动作，搜索空间最多是四的二十四次方；级联后每个位置只评估四个候选，复杂度变成二十四乘四。这个思想能降低动作选择难度，但需要注意，本项目不是推荐列表选择，不同信号可以选择相同动作编号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所以我们采用的是 CDQN-style autoregressive DQN，而不是论文原算法的完全复现。论文里选择的是不重复的推荐物品，本项目里每个信号都要各自选择动作，动作编号可以重复，真正不能放松的是每个信号自己的 action mask。这个命名上的谨慎很重要，可以避免后续汇报时被质疑理论前提不一致。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工程上没有破坏原来的 QMIX 路径，而是新增 cascade_dqn 路径。新增文件包括级联网络、策略、transition replay buffer、单进程 runner、冒烟测试和对比脚本；原有入口只增加算法路由、参数 preset、reward_norm 开关和统一评估日志。这样后续可以在同一个仓库里并行比较原 QMIX、修正 QMIX 和 CDQN。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本地验证已经证明训练闭环是通的：环境冒烟测试没有非法动作，CDQN 用九百个环境步可以端到端训练，loss 从约零点零二八下降到约零点零一七，模型和 CSV 指标都能保存。与此同时，已有 compare 曲线只有很少的评估点，只能说明脚本可用，不能当成正式性能证据，所以这页故意不放曲线。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两周工作量应该按成果呈现，而不是按天数堆任务。最小成功版本包括环境审计、修正 QMIX 基线、CDQN 最小实现、奖励归一化、指标日志和可替换的汇报材料。真正高风险的部分是二十四智能体定义，因为当前仓库没有完整的 agent cell、动作映射和 mask，必须先补齐这些信息。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最后的决策规则很明确：CDQN 已经值得进入二十四智能体版本验证，但还不能宣称优于修正 QMIX。下一步先补齐二十四个信号的定义，然后在服务器上用同预算、至少五个 seed 比较原 QMIX、修正 QMIX 和 CDQN。只有在完成率不差、疏散步数更短、火灾暴露不恶化且方差更小的情况下，才建议替换 QMIX。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8" name="Group 8"/>
          <p:cNvGrpSpPr/>
          <p:nvPr>
            <p:custDataLst>
              <p:tags r:id="rId1"/>
            </p:custDataLst>
          </p:nvPr>
        </p:nvGrpSpPr>
        <p:grpSpPr>
          <a:xfrm>
            <a:off x="7239000" y="1074420"/>
            <a:ext cx="4191000" cy="4173855"/>
            <a:chOff x="7239000" y="1074420"/>
            <a:chExt cx="4191000" cy="4173855"/>
          </a:xfrm>
        </p:grpSpPr>
        <p:sp>
          <p:nvSpPr>
            <p:cNvPr id="3" name="Line 3"/>
            <p:cNvSpPr/>
            <p:nvPr/>
          </p:nvSpPr>
          <p:spPr>
            <a:xfrm>
              <a:off x="7239000" y="107442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  <a:prstDash val="dash"/>
            </a:ln>
          </p:spPr>
        </p:sp>
        <p:sp>
          <p:nvSpPr>
            <p:cNvPr id="4" name="Line 4"/>
            <p:cNvSpPr/>
            <p:nvPr>
              <p:custDataLst>
                <p:tags r:id="rId2"/>
              </p:custDataLst>
            </p:nvPr>
          </p:nvSpPr>
          <p:spPr>
            <a:xfrm>
              <a:off x="723900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  <a:prstDash val="dash"/>
            </a:ln>
          </p:spPr>
        </p:sp>
        <p:sp>
          <p:nvSpPr>
            <p:cNvPr id="5" name="Line 5"/>
            <p:cNvSpPr/>
            <p:nvPr>
              <p:custDataLst>
                <p:tags r:id="rId3"/>
              </p:custDataLst>
            </p:nvPr>
          </p:nvSpPr>
          <p:spPr>
            <a:xfrm>
              <a:off x="7239000" y="2952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  <a:prstDash val="dash"/>
            </a:ln>
          </p:spPr>
        </p:sp>
        <p:sp>
          <p:nvSpPr>
            <p:cNvPr id="6" name="Line 6"/>
            <p:cNvSpPr/>
            <p:nvPr>
              <p:custDataLst>
                <p:tags r:id="rId4"/>
              </p:custDataLst>
            </p:nvPr>
          </p:nvSpPr>
          <p:spPr>
            <a:xfrm>
              <a:off x="7239000" y="4095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  <a:prstDash val="dash"/>
            </a:ln>
          </p:spPr>
        </p:sp>
        <p:sp>
          <p:nvSpPr>
            <p:cNvPr id="7" name="Line 7"/>
            <p:cNvSpPr/>
            <p:nvPr/>
          </p:nvSpPr>
          <p:spPr>
            <a:xfrm>
              <a:off x="7239000" y="5238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  <a:prstDash val="dash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2450" y="838200"/>
            <a:ext cx="6301740" cy="3892074"/>
            <a:chOff x="552450" y="838200"/>
            <a:chExt cx="6301740" cy="3892074"/>
          </a:xfrm>
        </p:grpSpPr>
        <p:sp>
          <p:nvSpPr>
            <p:cNvPr id="9" name="Rectangle 9"/>
            <p:cNvSpPr/>
            <p:nvPr/>
          </p:nvSpPr>
          <p:spPr>
            <a:xfrm>
              <a:off x="552450" y="838200"/>
              <a:ext cx="114300" cy="876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250" y="1038225"/>
              <a:ext cx="762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成果汇报</a:t>
              </a:r>
              <a:endParaRPr lang="zh-CN" sz="150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6770" y="1464945"/>
              <a:ext cx="3357245" cy="600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级联 DQN 更新</a:t>
              </a:r>
              <a:endParaRPr lang="zh-CN" sz="39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163128"/>
              <a:ext cx="5056505" cy="391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 QMIX 到 CDQN 最小可运行版本</a:t>
              </a:r>
              <a:endParaRPr lang="zh-CN" sz="255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3366770"/>
              <a:ext cx="6010275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目是形成可运行、可对比、可继续扩展的工程基线。</a:t>
              </a:r>
              <a:endParaRPr lang="zh-CN" sz="15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6453" y="4244499"/>
              <a:ext cx="5819140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本汇报只展示已验证事实；性能曲线等待服务器全量实验后替换。</a:t>
              </a:r>
              <a:endParaRPr lang="zh-CN" sz="15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en-US" altLang="zh-CN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QMIX</a:t>
              </a:r>
              <a:r>
                <a:rPr lang="zh-CN" altLang="en-US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到</a:t>
              </a:r>
              <a:r>
                <a:rPr lang="en-US" altLang="zh-CN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CDQN</a:t>
              </a:r>
              <a:r>
                <a:rPr lang="zh-CN" altLang="en-US" sz="15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最小可运行版本，所有智能体仍然需要补齐</a:t>
              </a:r>
              <a:endParaRPr lang="zh-CN" altLang="en-US" sz="15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>
            <p:custDataLst>
              <p:tags r:id="rId5"/>
            </p:custDataLst>
          </p:nvPr>
        </p:nvGrpSpPr>
        <p:grpSpPr>
          <a:xfrm>
            <a:off x="7334250" y="1344295"/>
            <a:ext cx="4000500" cy="3981450"/>
            <a:chOff x="7239000" y="1123950"/>
            <a:chExt cx="4000500" cy="3981450"/>
          </a:xfrm>
        </p:grpSpPr>
        <p:sp>
          <p:nvSpPr>
            <p:cNvPr id="16" name="Rectangle 16"/>
            <p:cNvSpPr/>
            <p:nvPr/>
          </p:nvSpPr>
          <p:spPr>
            <a:xfrm>
              <a:off x="7239000" y="1123950"/>
              <a:ext cx="4000500" cy="3981450"/>
            </a:xfrm>
            <a:prstGeom prst="roundRect">
              <a:avLst>
                <a:gd name="adj" fmla="val 1914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03795" y="1345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当前状态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907655" y="1911668"/>
              <a:ext cx="2174240" cy="460374"/>
              <a:chOff x="7907655" y="1911668"/>
              <a:chExt cx="2174240" cy="460374"/>
            </a:xfrm>
          </p:grpSpPr>
          <p:sp>
            <p:nvSpPr>
              <p:cNvPr id="19" name="TextBox 1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907655" y="1911668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环境冒烟测试通过</a:t>
                </a:r>
                <a:endPara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911465" y="2210752"/>
                <a:ext cx="217043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12 / 4 / 72 / 136 / 150，非法动作为 0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907655" y="2711768"/>
              <a:ext cx="3054858" cy="512444"/>
              <a:chOff x="7907655" y="2711768"/>
              <a:chExt cx="3054858" cy="512444"/>
            </a:xfrm>
          </p:grpSpPr>
          <p:sp>
            <p:nvSpPr>
              <p:cNvPr id="26" name="TextBox 2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907655" y="2711768"/>
                <a:ext cx="14897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CDQN 路径已接入</a:t>
                </a:r>
                <a:endPara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911465" y="3010852"/>
                <a:ext cx="30510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network / policy / replay / runner / metrics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907655" y="3511868"/>
              <a:ext cx="2977848" cy="512444"/>
              <a:chOff x="7907655" y="3511868"/>
              <a:chExt cx="2977848" cy="512444"/>
            </a:xfrm>
          </p:grpSpPr>
          <p:sp>
            <p:nvSpPr>
              <p:cNvPr id="32" name="TextBox 3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907655" y="35118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小样训练可运行</a:t>
                </a:r>
                <a:endPara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911465" y="3810952"/>
                <a:ext cx="29740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900 env steps，loss 从约 0.028 降至约 0.017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658100" y="4311968"/>
              <a:ext cx="2249691" cy="460374"/>
              <a:chOff x="7658100" y="4311968"/>
              <a:chExt cx="2249691" cy="46037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658100" y="4425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E11D48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907655" y="4311968"/>
                <a:ext cx="200013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24 智能体定义仍需补齐</a:t>
                </a:r>
                <a:endPara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11465" y="4611052"/>
                <a:ext cx="142240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当前版本为 12 个智能体</a:t>
                </a:r>
                <a:endParaRPr lang="zh-CN" sz="10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33400" y="6191250"/>
            <a:ext cx="11138535" cy="404812"/>
            <a:chOff x="533400" y="6191250"/>
            <a:chExt cx="11138535" cy="404812"/>
          </a:xfrm>
        </p:grpSpPr>
        <p:sp>
          <p:nvSpPr>
            <p:cNvPr id="43" name="Line 43"/>
            <p:cNvSpPr/>
            <p:nvPr/>
          </p:nvSpPr>
          <p:spPr>
            <a:xfrm>
              <a:off x="533400" y="6191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46215" y="6382702"/>
              <a:ext cx="425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10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84835" y="1050925"/>
            <a:ext cx="375158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“换算法”</a:t>
            </a:r>
            <a:r>
              <a:rPr lang="en-US" alt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——&gt;“</a:t>
            </a:r>
            <a:r>
              <a:rPr lang="zh-CN" altLang="en-US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加算法</a:t>
            </a:r>
            <a:r>
              <a:rPr lang="en-US" alt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”</a:t>
            </a:r>
            <a:endParaRPr lang="zh-CN" altLang="en-US" sz="2550" b="1" dirty="0">
              <a:solidFill>
                <a:srgbClr val="0B1F3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915035" y="1875472"/>
            <a:ext cx="6490358" cy="3209449"/>
            <a:chOff x="912495" y="2469832"/>
            <a:chExt cx="6490358" cy="3209449"/>
          </a:xfrm>
        </p:grpSpPr>
        <p:sp>
          <p:nvSpPr>
            <p:cNvPr id="14" name="TextBox 14"/>
            <p:cNvSpPr txBox="1"/>
            <p:nvPr/>
          </p:nvSpPr>
          <p:spPr>
            <a:xfrm>
              <a:off x="912495" y="2469832"/>
              <a:ext cx="1069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Situation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5352" y="2837021"/>
              <a:ext cx="561339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加入更多信号智能体后，QMIX 在 24 智能体设定下表现为不收敛。</a:t>
              </a:r>
              <a:endParaRPr lang="zh-CN" sz="1425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5352" y="3141821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直觉上，联合动作空间增大，集中式混合网络更难稳定学习。</a:t>
              </a:r>
              <a:endParaRPr lang="zh-CN" sz="1425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2495" y="3746182"/>
              <a:ext cx="14396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Complication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5352" y="4113371"/>
              <a:ext cx="4055110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当前代码版本是 1</a:t>
              </a:r>
              <a:r>
                <a:rPr lang="en-US" alt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智能体，不是完整 24 智能体。</a:t>
              </a:r>
              <a:endParaRPr lang="zh-CN" sz="1425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5352" y="4418171"/>
              <a:ext cx="55373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同时存在 epsilon 退火过快、训练更新不足两个高风险配置问题。</a:t>
              </a:r>
              <a:endParaRPr lang="zh-CN" sz="1425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2495" y="5022532"/>
              <a:ext cx="8505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Answer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5352" y="5389721"/>
              <a:ext cx="648750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本阶段先交付：修正 QMIX 基线 + CDQN 最小可运行实现 + 可复现实验接口。</a:t>
              </a:r>
              <a:endParaRPr lang="zh-CN" sz="1425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05825" y="1875155"/>
            <a:ext cx="2705100" cy="3429000"/>
            <a:chOff x="8505825" y="1875155"/>
            <a:chExt cx="2705100" cy="3429000"/>
          </a:xfrm>
        </p:grpSpPr>
        <p:sp>
          <p:nvSpPr>
            <p:cNvPr id="23" name="Rectangle 23"/>
            <p:cNvSpPr/>
            <p:nvPr/>
          </p:nvSpPr>
          <p:spPr>
            <a:xfrm>
              <a:off x="8505825" y="1875155"/>
              <a:ext cx="2705100" cy="342900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098756" y="2107406"/>
              <a:ext cx="300038" cy="300038"/>
              <a:chOff x="9098756" y="2107406"/>
              <a:chExt cx="300038" cy="3000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232106" y="224075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165431" y="217408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098756" y="2107406"/>
                <a:ext cx="300038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00038">
                    <a:moveTo>
                      <a:pt x="0" y="150019"/>
                    </a:moveTo>
                    <a:cubicBezTo>
                      <a:pt x="0" y="232872"/>
                      <a:pt x="67166" y="300038"/>
                      <a:pt x="150019" y="300038"/>
                    </a:cubicBezTo>
                    <a:cubicBezTo>
                      <a:pt x="232872" y="300038"/>
                      <a:pt x="300038" y="232872"/>
                      <a:pt x="300038" y="150019"/>
                    </a:cubicBezTo>
                    <a:cubicBezTo>
                      <a:pt x="300038" y="67166"/>
                      <a:pt x="232872" y="0"/>
                      <a:pt x="150019" y="0"/>
                    </a:cubicBezTo>
                    <a:cubicBezTo>
                      <a:pt x="67166" y="0"/>
                      <a:pt x="0" y="67166"/>
                      <a:pt x="0" y="150019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023985" y="2608898"/>
              <a:ext cx="14147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本阶段判断</a:t>
              </a:r>
              <a:endParaRPr lang="zh-CN" sz="19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31605" y="31308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不能用小样曲线证明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31605" y="3416618"/>
              <a:ext cx="12584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“CDQN 更优”。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31605" y="3838893"/>
              <a:ext cx="857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可以证明：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31605" y="40833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路径已跑通</a:t>
              </a:r>
              <a:endParaRPr lang="zh-CN" sz="13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1605" y="4369118"/>
              <a:ext cx="14897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非法动作被 mask</a:t>
              </a:r>
              <a:endParaRPr lang="zh-CN" sz="13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1605" y="46548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指标可对齐比较</a:t>
              </a:r>
              <a:endParaRPr lang="zh-CN" sz="13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10925" y="6382385"/>
            <a:ext cx="461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533400" y="61912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429578"/>
            <a:ext cx="8370189" cy="4740592"/>
            <a:chOff x="501015" y="429578"/>
            <a:chExt cx="8370189" cy="474059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42957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论文启发：把组合动作拆成级联选择</a:t>
              </a:r>
              <a:endParaRPr 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88005" y="4926330"/>
              <a:ext cx="57831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Cascading DQN 的核心不是 GAN 用户模型，而是用 Q1 到 Qk 依次选择动作前缀。</a:t>
              </a:r>
              <a:endPara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59685" y="1618298"/>
            <a:ext cx="6089015" cy="1171892"/>
            <a:chOff x="377190" y="1606868"/>
            <a:chExt cx="6089015" cy="1171892"/>
          </a:xfrm>
        </p:grpSpPr>
        <p:sp>
          <p:nvSpPr>
            <p:cNvPr id="6" name="TextBox 6"/>
            <p:cNvSpPr txBox="1"/>
            <p:nvPr/>
          </p:nvSpPr>
          <p:spPr>
            <a:xfrm>
              <a:off x="802005" y="16068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联合动作枚举</a:t>
              </a:r>
              <a:endParaRPr lang="zh-CN" sz="1350" b="1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5335" y="1894522"/>
              <a:ext cx="115036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E11D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4^24</a:t>
              </a:r>
              <a:endParaRPr lang="zh-CN" sz="3450" b="1" dirty="0">
                <a:solidFill>
                  <a:srgbClr val="E11D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7190" y="2518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指数级，几乎不可直接搜索</a:t>
              </a:r>
              <a:endPara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23485" y="16068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级联评估</a:t>
              </a:r>
              <a:endParaRPr lang="zh-CN" sz="1350" b="1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96815" y="1894522"/>
              <a:ext cx="115036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24×4</a:t>
              </a:r>
              <a:endParaRPr lang="zh-CN" sz="3450" b="1" dirty="0">
                <a:solidFill>
                  <a:srgbClr val="14B8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5505" y="253492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线性级，保留 mask 约束</a:t>
              </a:r>
              <a:endParaRPr lang="zh-CN" sz="120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00250" y="3238500"/>
            <a:ext cx="8572500" cy="1333500"/>
            <a:chOff x="2000250" y="3238500"/>
            <a:chExt cx="8572500" cy="1333500"/>
          </a:xfrm>
        </p:grpSpPr>
        <p:sp>
          <p:nvSpPr>
            <p:cNvPr id="13" name="Line 13"/>
            <p:cNvSpPr/>
            <p:nvPr/>
          </p:nvSpPr>
          <p:spPr>
            <a:xfrm>
              <a:off x="2190750" y="3905250"/>
              <a:ext cx="742950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2000250" y="3238500"/>
              <a:ext cx="1428750" cy="1333500"/>
              <a:chOff x="2000250" y="3238500"/>
              <a:chExt cx="142875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000250" y="3238500"/>
                <a:ext cx="142875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DBEAFE"/>
              </a:solidFill>
              <a:ln w="14288">
                <a:solidFill>
                  <a:srgbClr val="2563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559448" y="3444240"/>
                <a:ext cx="3103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B1F3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Q1</a:t>
                </a:r>
                <a:endPara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71356" y="3870960"/>
                <a:ext cx="4865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 s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94280" y="4140518"/>
                <a:ext cx="44069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 a1</a:t>
                </a:r>
                <a:endPara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095750" y="3238500"/>
              <a:ext cx="1428750" cy="1333500"/>
              <a:chOff x="4095750" y="3238500"/>
              <a:chExt cx="1428750" cy="1333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095750" y="3238500"/>
                <a:ext cx="142875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623445" y="3444240"/>
                <a:ext cx="37336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B1F3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Q2</a:t>
                </a:r>
                <a:endPara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30840" y="3870960"/>
                <a:ext cx="7585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 s, a1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66152" y="4140518"/>
                <a:ext cx="4879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 a2</a:t>
                </a:r>
                <a:endPara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787375" y="36604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...</a:t>
              </a:r>
              <a:endParaRPr lang="zh-CN" sz="3150" b="1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858000" y="3238500"/>
              <a:ext cx="1428750" cy="1333500"/>
              <a:chOff x="6858000" y="3238500"/>
              <a:chExt cx="1428750" cy="1333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858000" y="3238500"/>
                <a:ext cx="142875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385695" y="3444240"/>
                <a:ext cx="37336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B1F3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Qk</a:t>
                </a:r>
                <a:endPara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237095" y="3870960"/>
                <a:ext cx="670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输入前缀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8402" y="4140518"/>
                <a:ext cx="4879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 ak</a:t>
                </a:r>
                <a:endParaRPr lang="zh-CN" sz="13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953500" y="3238500"/>
              <a:ext cx="1619250" cy="1333500"/>
              <a:chOff x="8953500" y="3238500"/>
              <a:chExt cx="161925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953500" y="3238500"/>
                <a:ext cx="161925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CCFBF1"/>
              </a:solidFill>
              <a:ln w="14288">
                <a:solidFill>
                  <a:srgbClr val="14B8A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280112" y="34604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B1F3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联合动作</a:t>
                </a:r>
                <a:endPara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53871" y="3862864"/>
                <a:ext cx="10185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475569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(a1,...,ak)</a:t>
                </a:r>
                <a:endParaRPr lang="zh-CN" sz="1275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76499" y="4148614"/>
                <a:ext cx="77325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送入 CTM</a:t>
                </a:r>
                <a:endParaRPr lang="zh-CN" sz="1275" b="1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676400" y="5332730"/>
            <a:ext cx="8839200" cy="563245"/>
            <a:chOff x="1676400" y="5332730"/>
            <a:chExt cx="8839200" cy="563245"/>
          </a:xfrm>
        </p:grpSpPr>
        <p:sp>
          <p:nvSpPr>
            <p:cNvPr id="36" name="Rectangle 36"/>
            <p:cNvSpPr/>
            <p:nvPr/>
          </p:nvSpPr>
          <p:spPr>
            <a:xfrm>
              <a:off x="1676400" y="5332730"/>
              <a:ext cx="8839200" cy="563245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81200" y="54959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关键迁移：</a:t>
              </a:r>
              <a:endParaRPr lang="zh-CN" sz="15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8005" y="5512118"/>
              <a:ext cx="66951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每个信号仍各选自己的动作，动作编号允许重复；这不是原论文的无重复推荐列表。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264265" y="6382385"/>
            <a:ext cx="4076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r>
              <a:rPr lang="en-US" alt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533400" y="61912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91795"/>
            <a:ext cx="5757545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本项目采用的是 CDQN代替原有的</a:t>
            </a:r>
            <a:r>
              <a:rPr lang="en-US" alt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QMIX</a:t>
            </a:r>
            <a:endParaRPr lang="en-US" altLang="zh-CN" sz="2550" b="1" dirty="0">
              <a:solidFill>
                <a:srgbClr val="0B1F3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33400" y="1562100"/>
            <a:ext cx="4953000" cy="3429000"/>
            <a:chOff x="533400" y="1562100"/>
            <a:chExt cx="4953000" cy="3429000"/>
          </a:xfrm>
        </p:grpSpPr>
        <p:sp>
          <p:nvSpPr>
            <p:cNvPr id="6" name="Rectangle 6"/>
            <p:cNvSpPr/>
            <p:nvPr/>
          </p:nvSpPr>
          <p:spPr>
            <a:xfrm>
              <a:off x="533400" y="1562100"/>
              <a:ext cx="4953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59631" y="1926431"/>
              <a:ext cx="242888" cy="242888"/>
              <a:chOff x="859631" y="1926431"/>
              <a:chExt cx="242888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81075" y="20613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86619" y="20613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8544" y="20073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1075" y="19264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9631" y="20073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6619" y="19264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73492" y="1937861"/>
              <a:ext cx="166206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论文中的 CDQN</a:t>
              </a:r>
              <a:endParaRPr lang="zh-CN" sz="1725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005" y="2578418"/>
              <a:ext cx="29416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任务：从候选物品中选出 k 个推荐项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2005" y="29403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约束：通常不希望重复选择同一物品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005" y="33023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状态：用户状态与已选推荐前缀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005" y="366426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重点：组合推荐动作的线性化搜索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9150" y="4229100"/>
              <a:ext cx="4267200" cy="438150"/>
            </a:xfrm>
            <a:prstGeom prst="roundRect">
              <a:avLst>
                <a:gd name="adj" fmla="val 1304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43946" y="437721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适合推荐列表组合选择</a:t>
              </a:r>
              <a:endParaRPr lang="zh-CN" sz="1275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05600" y="1562100"/>
            <a:ext cx="4953000" cy="3429000"/>
            <a:chOff x="6705600" y="1562100"/>
            <a:chExt cx="49530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705600" y="1562100"/>
              <a:ext cx="4953000" cy="34290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31831" y="1926431"/>
              <a:ext cx="242888" cy="242888"/>
              <a:chOff x="7031831" y="1926431"/>
              <a:chExt cx="242888" cy="2428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31831" y="21153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20744" y="19264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7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7" y="53975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58819" y="1953419"/>
                <a:ext cx="202406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88912">
                    <a:moveTo>
                      <a:pt x="80962" y="188912"/>
                    </a:moveTo>
                    <a:lnTo>
                      <a:pt x="155178" y="188912"/>
                    </a:lnTo>
                    <a:cubicBezTo>
                      <a:pt x="181261" y="188912"/>
                      <a:pt x="202406" y="167768"/>
                      <a:pt x="202406" y="141684"/>
                    </a:cubicBezTo>
                    <a:cubicBezTo>
                      <a:pt x="202406" y="115601"/>
                      <a:pt x="181261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445692" y="1937861"/>
              <a:ext cx="245911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本项目中的 CDQN 变体</a:t>
              </a:r>
              <a:endParaRPr lang="zh-CN" sz="1725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74205" y="25784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任务：为每个信号智能体各选一个动作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74205" y="29403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约束：不同信号可以选择同一动作编号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4205" y="3302318"/>
              <a:ext cx="29416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状态：全局疏散状态 + 前缀动作信息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74205" y="3664268"/>
              <a:ext cx="36437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重点：保留 action mask，减少联合搜索难度</a:t>
              </a:r>
              <a:endParaRPr lang="zh-CN" sz="1350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991350" y="4229100"/>
              <a:ext cx="4267200" cy="438150"/>
            </a:xfrm>
            <a:prstGeom prst="roundRect">
              <a:avLst>
                <a:gd name="adj" fmla="val 13043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37624" y="4377214"/>
              <a:ext cx="21746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F76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适合信号控制联合动作生成</a:t>
              </a:r>
              <a:endParaRPr lang="zh-CN" sz="1275" b="1" dirty="0">
                <a:solidFill>
                  <a:srgbClr val="0F76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486400" y="2838450"/>
            <a:ext cx="1219200" cy="876300"/>
            <a:chOff x="5486400" y="2838450"/>
            <a:chExt cx="1219200" cy="876300"/>
          </a:xfrm>
        </p:grpSpPr>
        <p:sp>
          <p:nvSpPr>
            <p:cNvPr id="38" name="Line 38"/>
            <p:cNvSpPr/>
            <p:nvPr/>
          </p:nvSpPr>
          <p:spPr>
            <a:xfrm>
              <a:off x="5486400" y="32766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19050">
              <a:solidFill>
                <a:srgbClr val="0B1F3A"/>
              </a:solidFill>
              <a:prstDash val="lgDash"/>
            </a:ln>
          </p:spPr>
        </p:sp>
        <p:sp>
          <p:nvSpPr>
            <p:cNvPr id="35" name="Ellipse 35"/>
            <p:cNvSpPr/>
            <p:nvPr/>
          </p:nvSpPr>
          <p:spPr>
            <a:xfrm>
              <a:off x="5657850" y="2838450"/>
              <a:ext cx="876300" cy="876300"/>
            </a:xfrm>
            <a:prstGeom prst="ellipse">
              <a:avLst/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33440" y="3178334"/>
              <a:ext cx="32512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对比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85900" y="5391150"/>
            <a:ext cx="9220200" cy="666750"/>
            <a:chOff x="1485900" y="5391150"/>
            <a:chExt cx="9220200" cy="666750"/>
          </a:xfrm>
        </p:grpSpPr>
        <p:sp>
          <p:nvSpPr>
            <p:cNvPr id="40" name="Rectangle 40"/>
            <p:cNvSpPr/>
            <p:nvPr/>
          </p:nvSpPr>
          <p:spPr>
            <a:xfrm>
              <a:off x="1485900" y="5391150"/>
              <a:ext cx="9220200" cy="666750"/>
            </a:xfrm>
            <a:prstGeom prst="roundRect">
              <a:avLst>
                <a:gd name="adj" fmla="val 11429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6898" y="55149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准确表述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24635" y="5774690"/>
              <a:ext cx="592074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BEAF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CDQN-style autoregressive DQN</a:t>
              </a:r>
              <a:endParaRPr lang="zh-CN" sz="1350" dirty="0">
                <a:solidFill>
                  <a:srgbClr val="DBEAF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9801" y="5771833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BEAF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for masked joint signal actions</a:t>
              </a:r>
              <a:endParaRPr lang="zh-CN" sz="1350" dirty="0">
                <a:solidFill>
                  <a:srgbClr val="DBEAF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264265" y="6382385"/>
            <a:ext cx="4076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r>
              <a:rPr lang="en-US" alt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Line 43"/>
          <p:cNvSpPr/>
          <p:nvPr/>
        </p:nvSpPr>
        <p:spPr>
          <a:xfrm>
            <a:off x="546735" y="6286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39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1015" y="391478"/>
            <a:ext cx="11157585" cy="961072"/>
            <a:chOff x="501015" y="391478"/>
            <a:chExt cx="11157585" cy="96107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3599180" cy="391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代码改动集中在 7 个地方</a:t>
              </a:r>
              <a:endParaRPr lang="en-US" alt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" y="914400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DBEAFE"/>
            </a:solidFill>
            <a:ln w="9525">
              <a:solidFill>
                <a:srgbClr val="2563E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3905" y="1054418"/>
              <a:ext cx="56578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核心原则：保留 QMIX 原路径，新建 cascade_dqn 路径，先最小化尝试。</a:t>
              </a:r>
              <a:endParaRPr lang="zh-CN" sz="13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657350"/>
            <a:ext cx="5219700" cy="2857500"/>
            <a:chOff x="533400" y="1657350"/>
            <a:chExt cx="5219700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1657350"/>
              <a:ext cx="521970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82650" y="1993900"/>
              <a:ext cx="190500" cy="203200"/>
              <a:chOff x="882650" y="1993900"/>
              <a:chExt cx="190500" cy="203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2650" y="2146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82650" y="19939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9650" y="19939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08050" y="20447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3450" y="20828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6950" y="208280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36345" y="19935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新增 CDQN 路径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910" y="2556510"/>
              <a:ext cx="24707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MARL/network/cascade_net.py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910" y="28803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MARL/policy/cascade_dqn.py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910" y="3204210"/>
              <a:ext cx="28628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MARL/common/transition_buffer.py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910" y="3528060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MARL/cascade_runner.py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910" y="3851910"/>
              <a:ext cx="16946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tools/smoke_test.py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910" y="417576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analyze_compare.py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38900" y="1657350"/>
            <a:ext cx="5219700" cy="2857500"/>
            <a:chOff x="6438900" y="1657350"/>
            <a:chExt cx="5219700" cy="2857500"/>
          </a:xfrm>
        </p:grpSpPr>
        <p:sp>
          <p:nvSpPr>
            <p:cNvPr id="23" name="Rectangle 23"/>
            <p:cNvSpPr/>
            <p:nvPr/>
          </p:nvSpPr>
          <p:spPr>
            <a:xfrm>
              <a:off x="6438900" y="1657350"/>
              <a:ext cx="5219700" cy="2857500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757175" y="1975625"/>
              <a:ext cx="239751" cy="239751"/>
              <a:chOff x="6757175" y="1975625"/>
              <a:chExt cx="239751" cy="23975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757175" y="19756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38950" y="20574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41845" y="19935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修改原有入口与评估</a:t>
              </a:r>
              <a:endParaRPr lang="zh-CN" sz="16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9410" y="25565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MARL/common/arguments.py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9410" y="2880360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main.py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9410" y="320421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env/environment.py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9410" y="3528060"/>
              <a:ext cx="12946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MARL/runner.py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9410" y="3851910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MARL/common/rollout.py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9410" y="41757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README.md / AUDIT.md / PPT_STRUCTURE.md</a:t>
              </a:r>
              <a:endParaRPr lang="zh-CN" sz="1200" dirty="0">
                <a:solidFill>
                  <a:srgbClr val="11182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10925" y="6382385"/>
            <a:ext cx="461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Line 43"/>
          <p:cNvSpPr/>
          <p:nvPr/>
        </p:nvSpPr>
        <p:spPr>
          <a:xfrm>
            <a:off x="546735" y="6286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44" name="文本框 43"/>
          <p:cNvSpPr txBox="1"/>
          <p:nvPr/>
        </p:nvSpPr>
        <p:spPr>
          <a:xfrm>
            <a:off x="803910" y="4480560"/>
            <a:ext cx="4231005" cy="8394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000" b="1"/>
              <a:t>MARL/network/cascade_net.py</a:t>
            </a:r>
            <a:endParaRPr lang="en-US" altLang="zh-CN" sz="2000" b="1"/>
          </a:p>
          <a:p>
            <a:r>
              <a:rPr lang="zh-CN" altLang="en-US" sz="1400"/>
              <a:t>定义 </a:t>
            </a:r>
            <a:r>
              <a:rPr lang="en-US" altLang="zh-CN" sz="1400"/>
              <a:t>CDQN </a:t>
            </a:r>
            <a:r>
              <a:rPr lang="zh-CN" altLang="en-US" sz="1400"/>
              <a:t>的级联 </a:t>
            </a:r>
            <a:r>
              <a:rPr lang="en-US" altLang="zh-CN" sz="1400"/>
              <a:t>Q </a:t>
            </a:r>
            <a:r>
              <a:rPr lang="zh-CN" altLang="en-US" sz="1400"/>
              <a:t>网络</a:t>
            </a:r>
            <a:endParaRPr lang="zh-CN" altLang="en-US" sz="1400"/>
          </a:p>
        </p:txBody>
      </p:sp>
      <p:sp>
        <p:nvSpPr>
          <p:cNvPr id="45" name="文本框 44"/>
          <p:cNvSpPr txBox="1"/>
          <p:nvPr/>
        </p:nvSpPr>
        <p:spPr>
          <a:xfrm>
            <a:off x="6421755" y="4480560"/>
            <a:ext cx="5408930" cy="8394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000" b="1"/>
              <a:t>MARL/policy/cascade_dqn.py</a:t>
            </a:r>
            <a:endParaRPr lang="en-US" altLang="zh-CN" sz="2000" b="1"/>
          </a:p>
          <a:p>
            <a:r>
              <a:rPr lang="zh-CN" altLang="en-US" sz="1400"/>
              <a:t>定义 </a:t>
            </a:r>
            <a:r>
              <a:rPr lang="en-US" altLang="zh-CN" sz="1400"/>
              <a:t>CDQN </a:t>
            </a:r>
            <a:r>
              <a:rPr lang="zh-CN" altLang="en-US" sz="1400"/>
              <a:t>策略、动作选择、</a:t>
            </a:r>
            <a:r>
              <a:rPr lang="en-US" altLang="zh-CN" sz="1400"/>
              <a:t>CDQN </a:t>
            </a:r>
            <a:r>
              <a:rPr lang="zh-CN" altLang="en-US" sz="1400"/>
              <a:t>学习目标和模型保存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763905" y="5389880"/>
            <a:ext cx="5080000" cy="83947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000" b="1"/>
              <a:t>MARL/cascade_runner.py</a:t>
            </a:r>
            <a:endParaRPr lang="en-US" altLang="zh-CN" sz="2000" b="1"/>
          </a:p>
          <a:p>
            <a:r>
              <a:rPr lang="en-US" altLang="zh-CN" sz="1400"/>
              <a:t>CDQN </a:t>
            </a:r>
            <a:r>
              <a:rPr lang="zh-CN" altLang="en-US" sz="1400"/>
              <a:t>的独立训练循环。</a:t>
            </a:r>
            <a:endParaRPr lang="zh-CN" altLang="en-US" sz="1400"/>
          </a:p>
        </p:txBody>
      </p:sp>
      <p:sp>
        <p:nvSpPr>
          <p:cNvPr id="47" name="文本框 46"/>
          <p:cNvSpPr txBox="1"/>
          <p:nvPr/>
        </p:nvSpPr>
        <p:spPr>
          <a:xfrm>
            <a:off x="6421755" y="5299710"/>
            <a:ext cx="5080000" cy="83947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000" b="1"/>
              <a:t>MARL/common/arguments.py</a:t>
            </a:r>
            <a:endParaRPr lang="en-US" altLang="zh-CN" sz="2000" b="1"/>
          </a:p>
          <a:p>
            <a:r>
              <a:rPr lang="zh-CN" altLang="en-US" sz="1400"/>
              <a:t>新增 </a:t>
            </a:r>
            <a:r>
              <a:rPr lang="en-US" altLang="zh-CN" sz="1400"/>
              <a:t>CDQN </a:t>
            </a:r>
            <a:r>
              <a:rPr lang="zh-CN" altLang="en-US" sz="1400"/>
              <a:t>参数入口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91795"/>
            <a:ext cx="129540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验证通过</a:t>
            </a:r>
            <a:endParaRPr lang="zh-CN" sz="2550" b="1" dirty="0">
              <a:solidFill>
                <a:srgbClr val="0B1F3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457200" y="1217930"/>
            <a:ext cx="2571750" cy="1619250"/>
            <a:chOff x="533400" y="1581150"/>
            <a:chExt cx="2571750" cy="1619250"/>
          </a:xfrm>
        </p:grpSpPr>
        <p:sp>
          <p:nvSpPr>
            <p:cNvPr id="6" name="Rectangle 6"/>
            <p:cNvSpPr/>
            <p:nvPr/>
          </p:nvSpPr>
          <p:spPr>
            <a:xfrm>
              <a:off x="533400" y="1581150"/>
              <a:ext cx="257175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41421" y="1907381"/>
              <a:ext cx="263509" cy="242888"/>
              <a:chOff x="841421" y="1907381"/>
              <a:chExt cx="263509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1421" y="19073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21556" y="20962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79145" y="2174558"/>
              <a:ext cx="32259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</a:t>
              </a:r>
              <a:endParaRPr lang="zh-CN" sz="3150" b="1" dirty="0">
                <a:solidFill>
                  <a:srgbClr val="14B8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9205" y="23688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非法动作</a:t>
              </a:r>
              <a:endParaRPr lang="zh-CN" sz="135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862" y="2755106"/>
              <a:ext cx="21888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150 步随机合法动作无 KeyError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14700" y="1217930"/>
            <a:ext cx="2571750" cy="1619250"/>
            <a:chOff x="3390900" y="1581150"/>
            <a:chExt cx="2571750" cy="1619250"/>
          </a:xfrm>
        </p:grpSpPr>
        <p:sp>
          <p:nvSpPr>
            <p:cNvPr id="14" name="Rectangle 14"/>
            <p:cNvSpPr/>
            <p:nvPr/>
          </p:nvSpPr>
          <p:spPr>
            <a:xfrm>
              <a:off x="3390900" y="1581150"/>
              <a:ext cx="257175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717131" y="1907381"/>
              <a:ext cx="242887" cy="242888"/>
              <a:chOff x="3717131" y="1907381"/>
              <a:chExt cx="242887" cy="2428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744119" y="1934369"/>
                <a:ext cx="188913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2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1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1"/>
                      <a:pt x="182871" y="188912"/>
                      <a:pt x="175419" y="188912"/>
                    </a:cubicBezTo>
                    <a:lnTo>
                      <a:pt x="13494" y="188912"/>
                    </a:lnTo>
                    <a:cubicBezTo>
                      <a:pt x="6041" y="188912"/>
                      <a:pt x="0" y="182871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798094" y="1988344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0"/>
                    </a:moveTo>
                    <a:lnTo>
                      <a:pt x="80962" y="0"/>
                    </a:lnTo>
                    <a:lnTo>
                      <a:pt x="80962" y="80962"/>
                    </a:lnTo>
                    <a:lnTo>
                      <a:pt x="0" y="8096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717131" y="2001838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17131" y="2055812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811588" y="190738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5562" y="190738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33031" y="2001838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269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33031" y="2055812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2698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65562" y="212328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11588" y="212328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36645" y="21745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900</a:t>
              </a:r>
              <a:endParaRPr lang="zh-CN" sz="315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88205" y="236886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env steps</a:t>
              </a:r>
              <a:endParaRPr lang="zh-CN" sz="135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62362" y="2755106"/>
              <a:ext cx="16337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CDQN 端到端训练可运行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72200" y="1217930"/>
            <a:ext cx="2782847" cy="1619250"/>
            <a:chOff x="6248400" y="1581150"/>
            <a:chExt cx="2782847" cy="1619250"/>
          </a:xfrm>
        </p:grpSpPr>
        <p:sp>
          <p:nvSpPr>
            <p:cNvPr id="30" name="Rectangle 30"/>
            <p:cNvSpPr/>
            <p:nvPr/>
          </p:nvSpPr>
          <p:spPr>
            <a:xfrm>
              <a:off x="6248400" y="1581150"/>
              <a:ext cx="2694305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88125" y="1947862"/>
              <a:ext cx="215900" cy="184944"/>
              <a:chOff x="6588125" y="1947862"/>
              <a:chExt cx="215900" cy="18494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88125" y="2123281"/>
                <a:ext cx="21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525">
                    <a:moveTo>
                      <a:pt x="0" y="0"/>
                    </a:move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88125" y="194786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121444"/>
                    </a:moveTo>
                    <a:lnTo>
                      <a:pt x="53975" y="40481"/>
                    </a:lnTo>
                    <a:lnTo>
                      <a:pt x="107950" y="67469"/>
                    </a:lnTo>
                    <a:lnTo>
                      <a:pt x="161925" y="0"/>
                    </a:lnTo>
                    <a:lnTo>
                      <a:pt x="215900" y="53975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499860" y="2223135"/>
              <a:ext cx="226125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563E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0.028→0.017</a:t>
              </a:r>
              <a:endParaRPr lang="zh-CN" sz="2700" b="1" dirty="0">
                <a:solidFill>
                  <a:srgbClr val="2563E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9862" y="2755106"/>
              <a:ext cx="25113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小样 loss 下降，仅说明训练闭环正常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029700" y="1217930"/>
            <a:ext cx="2552700" cy="1619250"/>
            <a:chOff x="9105900" y="1581150"/>
            <a:chExt cx="2552700" cy="1619250"/>
          </a:xfrm>
        </p:grpSpPr>
        <p:sp>
          <p:nvSpPr>
            <p:cNvPr id="37" name="Rectangle 37"/>
            <p:cNvSpPr/>
            <p:nvPr/>
          </p:nvSpPr>
          <p:spPr>
            <a:xfrm>
              <a:off x="9105900" y="1581150"/>
              <a:ext cx="25527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438878" y="1927622"/>
              <a:ext cx="222647" cy="195659"/>
              <a:chOff x="9438878" y="1927622"/>
              <a:chExt cx="222647" cy="19565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438878" y="1927622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438878" y="2008584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38878" y="2089547"/>
                <a:ext cx="53975" cy="33734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3734">
                    <a:moveTo>
                      <a:pt x="0" y="13494"/>
                    </a:moveTo>
                    <a:lnTo>
                      <a:pt x="20241" y="33734"/>
                    </a:ln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40081" y="1947862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540081" y="2028825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40081" y="2109788"/>
                <a:ext cx="1214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9525">
                    <a:moveTo>
                      <a:pt x="0" y="0"/>
                    </a:moveTo>
                    <a:lnTo>
                      <a:pt x="121444" y="0"/>
                    </a:ln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351645" y="21745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CSV</a:t>
              </a:r>
              <a:endParaRPr lang="zh-CN" sz="3150" b="1" dirty="0">
                <a:solidFill>
                  <a:srgbClr val="14B8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88905" y="23688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</a:t>
              </a:r>
              <a:endParaRPr lang="zh-CN" sz="135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77362" y="27551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QMIX 与 CDQN 指标格式一致</a:t>
              </a:r>
              <a:endParaRPr lang="zh-CN" sz="112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10925" y="6382385"/>
            <a:ext cx="4610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Line 43"/>
          <p:cNvSpPr/>
          <p:nvPr/>
        </p:nvSpPr>
        <p:spPr>
          <a:xfrm>
            <a:off x="546735" y="6286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66" name="文本框 65"/>
          <p:cNvSpPr txBox="1"/>
          <p:nvPr/>
        </p:nvSpPr>
        <p:spPr>
          <a:xfrm>
            <a:off x="765175" y="3799840"/>
            <a:ext cx="273621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completion </a:t>
            </a:r>
            <a:r>
              <a:rPr lang="zh-CN" altLang="en-US" sz="1600"/>
              <a:t>是否 </a:t>
            </a:r>
            <a:r>
              <a:rPr lang="en-US" altLang="zh-CN" sz="1600"/>
              <a:t>&gt; 0</a:t>
            </a:r>
            <a:endParaRPr lang="en-US" altLang="zh-CN" sz="1600"/>
          </a:p>
          <a:p>
            <a:r>
              <a:rPr lang="en-US" altLang="zh-CN" sz="1600"/>
              <a:t>evac_steps </a:t>
            </a:r>
            <a:r>
              <a:rPr lang="zh-CN" altLang="en-US" sz="1600"/>
              <a:t>是否下降</a:t>
            </a:r>
            <a:endParaRPr lang="zh-CN" altLang="en-US" sz="1600"/>
          </a:p>
          <a:p>
            <a:r>
              <a:rPr lang="en-US" altLang="zh-CN" sz="1600"/>
              <a:t>reward_sum </a:t>
            </a:r>
            <a:r>
              <a:rPr lang="zh-CN" altLang="en-US" sz="1600"/>
              <a:t>是否上升</a:t>
            </a:r>
            <a:endParaRPr lang="zh-CN" altLang="en-US" sz="1600"/>
          </a:p>
          <a:p>
            <a:r>
              <a:rPr lang="en-US" altLang="zh-CN" sz="1600"/>
              <a:t>illegal </a:t>
            </a:r>
            <a:r>
              <a:rPr lang="zh-CN" altLang="en-US" sz="1600"/>
              <a:t>是否始终为 </a:t>
            </a:r>
            <a:r>
              <a:rPr lang="en-US" altLang="zh-CN" sz="1600"/>
              <a:t>0</a:t>
            </a:r>
            <a:endParaRPr lang="en-US" altLang="zh-CN" sz="1600"/>
          </a:p>
        </p:txBody>
      </p:sp>
      <p:sp>
        <p:nvSpPr>
          <p:cNvPr id="67" name="文本框 66"/>
          <p:cNvSpPr txBox="1"/>
          <p:nvPr/>
        </p:nvSpPr>
        <p:spPr>
          <a:xfrm>
            <a:off x="945515" y="3260725"/>
            <a:ext cx="18243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先看是否学会</a:t>
            </a:r>
            <a:endParaRPr lang="zh-CN" altLang="en-US" sz="1600"/>
          </a:p>
        </p:txBody>
      </p:sp>
      <p:sp>
        <p:nvSpPr>
          <p:cNvPr id="68" name="文本框 67"/>
          <p:cNvSpPr txBox="1"/>
          <p:nvPr/>
        </p:nvSpPr>
        <p:spPr>
          <a:xfrm>
            <a:off x="3602355" y="4102100"/>
            <a:ext cx="214757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再看</a:t>
            </a:r>
            <a:r>
              <a:rPr lang="en-US" altLang="zh-CN" sz="1600"/>
              <a:t>loss </a:t>
            </a:r>
            <a:r>
              <a:rPr lang="zh-CN" altLang="en-US" sz="1600"/>
              <a:t>是否爆炸</a:t>
            </a:r>
            <a:endParaRPr lang="zh-CN" altLang="en-US" sz="1600"/>
          </a:p>
          <a:p>
            <a:pPr indent="0">
              <a:buFont typeface="Arial" panose="020B0604020202020204"/>
              <a:buNone/>
            </a:pPr>
            <a:r>
              <a:rPr lang="en-US" altLang="zh-CN" sz="1600"/>
              <a:t>reward </a:t>
            </a:r>
            <a:r>
              <a:rPr lang="zh-CN" altLang="en-US" sz="1600"/>
              <a:t>是否大幅震荡</a:t>
            </a:r>
            <a:endParaRPr lang="zh-CN" altLang="en-US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最后 </a:t>
            </a:r>
            <a:r>
              <a:rPr lang="en-US" altLang="zh-CN" sz="1600"/>
              <a:t>20% </a:t>
            </a:r>
            <a:r>
              <a:rPr lang="zh-CN" altLang="en-US" sz="1600"/>
              <a:t>比前 </a:t>
            </a:r>
            <a:r>
              <a:rPr lang="en-US" altLang="zh-CN" sz="1600"/>
              <a:t>20% </a:t>
            </a:r>
            <a:r>
              <a:rPr lang="zh-CN" altLang="en-US" sz="1600"/>
              <a:t>好</a:t>
            </a:r>
            <a:endParaRPr lang="zh-CN" altLang="en-US" sz="1600"/>
          </a:p>
        </p:txBody>
      </p:sp>
      <p:sp>
        <p:nvSpPr>
          <p:cNvPr id="69" name="文本框 68"/>
          <p:cNvSpPr txBox="1"/>
          <p:nvPr/>
        </p:nvSpPr>
        <p:spPr>
          <a:xfrm>
            <a:off x="3667760" y="3562985"/>
            <a:ext cx="219392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再看训练是否稳定</a:t>
            </a:r>
            <a:endParaRPr lang="zh-CN" altLang="en-US" sz="1600"/>
          </a:p>
        </p:txBody>
      </p:sp>
      <p:sp>
        <p:nvSpPr>
          <p:cNvPr id="70" name="文本框 69"/>
          <p:cNvSpPr txBox="1"/>
          <p:nvPr/>
        </p:nvSpPr>
        <p:spPr>
          <a:xfrm>
            <a:off x="728345" y="5052695"/>
            <a:ext cx="242379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如果 </a:t>
            </a:r>
            <a:r>
              <a:rPr lang="en-US" altLang="zh-CN" sz="1600"/>
              <a:t>completion </a:t>
            </a:r>
            <a:r>
              <a:rPr lang="zh-CN" altLang="en-US" sz="1600"/>
              <a:t>仍为 </a:t>
            </a:r>
            <a:r>
              <a:rPr lang="en-US" altLang="zh-CN" sz="1600"/>
              <a:t>0</a:t>
            </a:r>
            <a:endParaRPr lang="en-US" altLang="zh-CN" sz="1600"/>
          </a:p>
          <a:p>
            <a:endParaRPr lang="en-US" altLang="zh-CN" sz="1600"/>
          </a:p>
          <a:p>
            <a:pPr indent="0">
              <a:buFont typeface="Arial" panose="020B0604020202020204"/>
              <a:buNone/>
            </a:pPr>
            <a:r>
              <a:rPr lang="zh-CN" altLang="en-US" sz="1600"/>
              <a:t>检查 </a:t>
            </a:r>
            <a:r>
              <a:rPr lang="en-US" altLang="zh-CN" sz="1600"/>
              <a:t>done </a:t>
            </a:r>
            <a:r>
              <a:rPr lang="zh-CN" altLang="en-US" sz="1600"/>
              <a:t>是否真的触发</a:t>
            </a:r>
            <a:endParaRPr lang="zh-CN" altLang="en-US" sz="1600"/>
          </a:p>
        </p:txBody>
      </p:sp>
      <p:sp>
        <p:nvSpPr>
          <p:cNvPr id="71" name="文本框 70"/>
          <p:cNvSpPr txBox="1"/>
          <p:nvPr/>
        </p:nvSpPr>
        <p:spPr>
          <a:xfrm>
            <a:off x="9300845" y="3562985"/>
            <a:ext cx="24936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如果 </a:t>
            </a:r>
            <a:r>
              <a:rPr lang="en-US" altLang="zh-CN" sz="1600"/>
              <a:t>loss </a:t>
            </a:r>
            <a:r>
              <a:rPr lang="zh-CN" altLang="en-US" sz="1600"/>
              <a:t>很低但策略差</a:t>
            </a:r>
            <a:endParaRPr lang="zh-CN" altLang="en-US" sz="1600"/>
          </a:p>
        </p:txBody>
      </p:sp>
      <p:sp>
        <p:nvSpPr>
          <p:cNvPr id="72" name="文本框 71"/>
          <p:cNvSpPr txBox="1"/>
          <p:nvPr/>
        </p:nvSpPr>
        <p:spPr>
          <a:xfrm>
            <a:off x="9396095" y="4000500"/>
            <a:ext cx="21932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降低 </a:t>
            </a:r>
            <a:r>
              <a:rPr lang="en-US" altLang="zh-CN" sz="1600"/>
              <a:t>epsilon </a:t>
            </a:r>
            <a:r>
              <a:rPr lang="zh-CN" altLang="en-US" sz="1600"/>
              <a:t>衰减速度</a:t>
            </a:r>
            <a:endParaRPr lang="zh-CN" altLang="en-US" sz="1600"/>
          </a:p>
        </p:txBody>
      </p:sp>
      <p:sp>
        <p:nvSpPr>
          <p:cNvPr id="73" name="文本框 72"/>
          <p:cNvSpPr txBox="1"/>
          <p:nvPr/>
        </p:nvSpPr>
        <p:spPr>
          <a:xfrm>
            <a:off x="6932295" y="3562985"/>
            <a:ext cx="12871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后期变差</a:t>
            </a:r>
            <a:endParaRPr lang="zh-CN" altLang="en-US" sz="1600"/>
          </a:p>
        </p:txBody>
      </p:sp>
      <p:sp>
        <p:nvSpPr>
          <p:cNvPr id="74" name="文本框 73"/>
          <p:cNvSpPr txBox="1"/>
          <p:nvPr/>
        </p:nvSpPr>
        <p:spPr>
          <a:xfrm>
            <a:off x="6625590" y="4102100"/>
            <a:ext cx="19005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学习率降到 </a:t>
            </a:r>
            <a:r>
              <a:rPr lang="en-US" altLang="zh-CN" sz="1600"/>
              <a:t>5e-5</a:t>
            </a:r>
            <a:endParaRPr lang="en-US" altLang="zh-CN" sz="1600"/>
          </a:p>
        </p:txBody>
      </p:sp>
      <p:sp>
        <p:nvSpPr>
          <p:cNvPr id="75" name="文本框 74"/>
          <p:cNvSpPr txBox="1"/>
          <p:nvPr/>
        </p:nvSpPr>
        <p:spPr>
          <a:xfrm>
            <a:off x="5996940" y="4525010"/>
            <a:ext cx="329438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target update </a:t>
            </a:r>
            <a:r>
              <a:rPr lang="zh-CN" altLang="en-US" sz="1600"/>
              <a:t>从 </a:t>
            </a:r>
            <a:r>
              <a:rPr lang="en-US" altLang="zh-CN" sz="1600"/>
              <a:t>1000 </a:t>
            </a:r>
            <a:r>
              <a:rPr lang="zh-CN" altLang="en-US" sz="1600"/>
              <a:t>改到 </a:t>
            </a:r>
            <a:r>
              <a:rPr lang="en-US" altLang="zh-CN" sz="1600"/>
              <a:t>2000</a:t>
            </a:r>
            <a:endParaRPr lang="en-US" altLang="zh-CN" sz="1600"/>
          </a:p>
        </p:txBody>
      </p:sp>
      <p:sp>
        <p:nvSpPr>
          <p:cNvPr id="76" name="文本框 75"/>
          <p:cNvSpPr txBox="1"/>
          <p:nvPr/>
        </p:nvSpPr>
        <p:spPr>
          <a:xfrm>
            <a:off x="4528820" y="54216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先调 </a:t>
            </a:r>
            <a:r>
              <a:rPr lang="en-US" altLang="zh-CN"/>
              <a:t>reward → </a:t>
            </a:r>
            <a:r>
              <a:rPr lang="zh-CN" altLang="en-US"/>
              <a:t>再调 </a:t>
            </a:r>
            <a:r>
              <a:rPr lang="en-US" altLang="zh-CN"/>
              <a:t>lr → </a:t>
            </a:r>
            <a:r>
              <a:rPr lang="zh-CN" altLang="en-US"/>
              <a:t>再调 </a:t>
            </a:r>
            <a:r>
              <a:rPr lang="en-US" altLang="zh-CN"/>
              <a:t>epsilon → </a:t>
            </a:r>
            <a:r>
              <a:rPr lang="zh-CN" altLang="en-US"/>
              <a:t>最后改网络</a:t>
            </a:r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9585325" y="4525010"/>
            <a:ext cx="18122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Ir</a:t>
            </a:r>
            <a:r>
              <a:rPr lang="zh-CN" altLang="en-US" sz="1600"/>
              <a:t>太小学得慢卡住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/>
      <p:bldP spid="36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91795"/>
            <a:ext cx="2914650" cy="391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两周工作量成果总结</a:t>
            </a:r>
            <a:endParaRPr lang="zh-CN" sz="2550" b="1" dirty="0">
              <a:solidFill>
                <a:srgbClr val="0B1F3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3" name="Group 53"/>
          <p:cNvGrpSpPr/>
          <p:nvPr/>
        </p:nvGrpSpPr>
        <p:grpSpPr>
          <a:xfrm>
            <a:off x="533400" y="1466850"/>
            <a:ext cx="11125200" cy="4095750"/>
            <a:chOff x="533400" y="1466850"/>
            <a:chExt cx="11125200" cy="4095750"/>
          </a:xfrm>
        </p:grpSpPr>
        <p:sp>
          <p:nvSpPr>
            <p:cNvPr id="6" name="Rectangle 6"/>
            <p:cNvSpPr/>
            <p:nvPr/>
          </p:nvSpPr>
          <p:spPr>
            <a:xfrm>
              <a:off x="533400" y="1466850"/>
              <a:ext cx="111252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466850"/>
              <a:ext cx="11125200" cy="457200"/>
            </a:xfrm>
            <a:prstGeom prst="roundRect">
              <a:avLst>
                <a:gd name="adj" fmla="val 16667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4862" y="16406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成果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0562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当前状态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2012" y="1640681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 / 下一步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33400" y="2072164"/>
              <a:ext cx="11125200" cy="318611"/>
              <a:chOff x="533400" y="2072164"/>
              <a:chExt cx="11125200" cy="31861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533400" y="23812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02958" y="20721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环境与问题审计</a:t>
                </a:r>
                <a:endParaRPr 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99610" y="2080260"/>
                <a:ext cx="5105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已完成</a:t>
                </a:r>
                <a:endParaRPr lang="zh-CN" sz="1200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613140" y="2080260"/>
                <a:ext cx="112585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24 个智能体加入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2548414"/>
              <a:ext cx="11125200" cy="318611"/>
              <a:chOff x="533400" y="2548414"/>
              <a:chExt cx="11125200" cy="318611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533400" y="28575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2958" y="2548414"/>
                <a:ext cx="145163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修正版 QMIX 基线</a:t>
                </a:r>
                <a:endParaRPr 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99610" y="2556510"/>
                <a:ext cx="108661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已接入 preset</a:t>
                </a:r>
                <a:endParaRPr lang="zh-CN" sz="1200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81060" y="255651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全量训练应在服务器跑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024664"/>
              <a:ext cx="11125200" cy="318611"/>
              <a:chOff x="533400" y="3024664"/>
              <a:chExt cx="11125200" cy="318611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533400" y="33337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02958" y="3024664"/>
                <a:ext cx="122848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CDQN 最小实现</a:t>
                </a:r>
                <a:endParaRPr 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99610" y="3032760"/>
                <a:ext cx="5105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已跑通</a:t>
                </a:r>
                <a:endParaRPr lang="zh-CN" sz="1200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13140" y="3032760"/>
                <a:ext cx="13716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后续需 多 seed 验证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3500914"/>
              <a:ext cx="11125200" cy="318611"/>
              <a:chOff x="533400" y="3500914"/>
              <a:chExt cx="11125200" cy="318611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533400" y="38100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02958" y="3500914"/>
                <a:ext cx="1300480" cy="196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奖励归一化与指标</a:t>
                </a:r>
                <a:endParaRPr lang="en-US" alt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99610" y="350901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已提供开关</a:t>
                </a:r>
                <a:endParaRPr lang="zh-CN" sz="1200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13140" y="350901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权重需实验确认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33400" y="3977164"/>
              <a:ext cx="11125200" cy="318611"/>
              <a:chOff x="533400" y="3977164"/>
              <a:chExt cx="11125200" cy="318611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533400" y="42862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02958" y="3977164"/>
                <a:ext cx="1525905" cy="196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12 智能体服务器运行</a:t>
                </a:r>
                <a:endParaRPr 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99610" y="398526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4B8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已验证闭环</a:t>
                </a:r>
                <a:endParaRPr lang="zh-CN" sz="1200" dirty="0">
                  <a:solidFill>
                    <a:srgbClr val="14B8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81060" y="3985260"/>
                <a:ext cx="19507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11D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样本太少，不足以判断优劣</a:t>
                </a:r>
                <a:endParaRPr lang="zh-CN" sz="1200" dirty="0">
                  <a:solidFill>
                    <a:srgbClr val="E11D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33400" y="4453414"/>
              <a:ext cx="11125200" cy="318611"/>
              <a:chOff x="533400" y="4453414"/>
              <a:chExt cx="11125200" cy="318611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533400" y="47625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02958" y="4453414"/>
                <a:ext cx="1038225" cy="196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24 智能体扩展</a:t>
                </a:r>
                <a:endParaRPr lang="zh-CN" sz="1275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499610" y="446151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11D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待补齐定义</a:t>
                </a:r>
                <a:endParaRPr lang="zh-CN" sz="1200" dirty="0">
                  <a:solidFill>
                    <a:srgbClr val="E11D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82305" y="4461510"/>
                <a:ext cx="224980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加入agent_cell_ids、mask、映射</a:t>
                </a:r>
                <a:endParaRPr lang="zh-CN" sz="120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1104900" y="5829300"/>
            <a:ext cx="9982200" cy="419100"/>
            <a:chOff x="1104900" y="5829300"/>
            <a:chExt cx="9982200" cy="419100"/>
          </a:xfrm>
        </p:grpSpPr>
        <p:sp>
          <p:nvSpPr>
            <p:cNvPr id="54" name="Rectangle 54"/>
            <p:cNvSpPr/>
            <p:nvPr/>
          </p:nvSpPr>
          <p:spPr>
            <a:xfrm>
              <a:off x="1104900" y="5829300"/>
              <a:ext cx="9982200" cy="419100"/>
            </a:xfrm>
            <a:prstGeom prst="roundRect">
              <a:avLst>
                <a:gd name="adj" fmla="val 18182"/>
              </a:avLst>
            </a:prstGeom>
            <a:solidFill>
              <a:srgbClr val="DBEAFE"/>
            </a:solidFill>
            <a:ln w="9525">
              <a:solidFill>
                <a:srgbClr val="2563E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309938" y="5958364"/>
              <a:ext cx="5572125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最小成功版本：12 智能体 CDQN 可运行 + 修正 QMIX 基线 + 可复现实验管线</a:t>
              </a:r>
              <a:endParaRPr lang="zh-CN" sz="1275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0" name="TextBox 54"/>
          <p:cNvSpPr txBox="1"/>
          <p:nvPr/>
        </p:nvSpPr>
        <p:spPr>
          <a:xfrm>
            <a:off x="11264265" y="6382385"/>
            <a:ext cx="4076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</a:t>
            </a:r>
            <a:r>
              <a:rPr lang="en-US" alt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Line 43"/>
          <p:cNvSpPr/>
          <p:nvPr/>
        </p:nvSpPr>
        <p:spPr>
          <a:xfrm>
            <a:off x="546735" y="636333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3395" y="402908"/>
            <a:ext cx="9650906" cy="868680"/>
            <a:chOff x="493395" y="402908"/>
            <a:chExt cx="9650906" cy="868680"/>
          </a:xfrm>
        </p:grpSpPr>
        <p:sp>
          <p:nvSpPr>
            <p:cNvPr id="3" name="TextBox 3"/>
            <p:cNvSpPr txBox="1"/>
            <p:nvPr/>
          </p:nvSpPr>
          <p:spPr>
            <a:xfrm>
              <a:off x="493395" y="402908"/>
              <a:ext cx="96509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下一步：补齐 24 智能体定义后做服务器全量对比</a:t>
              </a:r>
              <a:endParaRPr lang="zh-CN" sz="315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6255" y="997268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CDQN 已经具备继续验证的工程基础，但是否替换 QMIX 必须由同预算实验决定。</a:t>
              </a:r>
              <a:endParaRPr lang="zh-CN" sz="1350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9150" y="1828800"/>
            <a:ext cx="10553700" cy="2476500"/>
            <a:chOff x="819150" y="1828800"/>
            <a:chExt cx="10553700" cy="2476500"/>
          </a:xfrm>
        </p:grpSpPr>
        <p:sp>
          <p:nvSpPr>
            <p:cNvPr id="6" name="Rectangle 6"/>
            <p:cNvSpPr/>
            <p:nvPr/>
          </p:nvSpPr>
          <p:spPr>
            <a:xfrm>
              <a:off x="819150" y="1828800"/>
              <a:ext cx="323850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150144" y="2178844"/>
              <a:ext cx="271463" cy="271463"/>
              <a:chOff x="1150144" y="2178844"/>
              <a:chExt cx="271463" cy="2714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80306" y="2178844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2"/>
                      <a:pt x="27008" y="120650"/>
                      <a:pt x="60325" y="120650"/>
                    </a:cubicBezTo>
                    <a:cubicBezTo>
                      <a:pt x="93642" y="120650"/>
                      <a:pt x="120650" y="93642"/>
                      <a:pt x="120650" y="60325"/>
                    </a:cubicBezTo>
                    <a:cubicBezTo>
                      <a:pt x="120650" y="27008"/>
                      <a:pt x="93642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19050">
                <a:solidFill>
                  <a:srgbClr val="E11D4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50144" y="2359819"/>
                <a:ext cx="180975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0488">
                    <a:moveTo>
                      <a:pt x="0" y="90488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120650" y="0"/>
                    </a:lnTo>
                    <a:cubicBezTo>
                      <a:pt x="153967" y="0"/>
                      <a:pt x="180975" y="27008"/>
                      <a:pt x="180975" y="60325"/>
                    </a:cubicBezTo>
                    <a:lnTo>
                      <a:pt x="180975" y="90488"/>
                    </a:lnTo>
                  </a:path>
                </a:pathLst>
              </a:custGeom>
              <a:noFill/>
              <a:ln w="19050">
                <a:solidFill>
                  <a:srgbClr val="E11D4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46200" y="2180804"/>
                <a:ext cx="45362" cy="116880"/>
              </a:xfrm>
              <a:custGeom>
                <a:avLst/>
                <a:gdLst/>
                <a:ahLst/>
                <a:cxnLst/>
                <a:rect l="l" t="t" r="r" b="b"/>
                <a:pathLst>
                  <a:path w="45362" h="116880">
                    <a:moveTo>
                      <a:pt x="0" y="0"/>
                    </a:moveTo>
                    <a:cubicBezTo>
                      <a:pt x="26693" y="6834"/>
                      <a:pt x="45362" y="30886"/>
                      <a:pt x="45362" y="58440"/>
                    </a:cubicBezTo>
                    <a:cubicBezTo>
                      <a:pt x="45362" y="85993"/>
                      <a:pt x="26693" y="110045"/>
                      <a:pt x="0" y="116880"/>
                    </a:cubicBezTo>
                  </a:path>
                </a:pathLst>
              </a:custGeom>
              <a:noFill/>
              <a:ln w="19050">
                <a:solidFill>
                  <a:srgbClr val="E11D4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76363" y="2362081"/>
                <a:ext cx="45244" cy="88225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88225">
                    <a:moveTo>
                      <a:pt x="45244" y="88225"/>
                    </a:moveTo>
                    <a:lnTo>
                      <a:pt x="45244" y="58063"/>
                    </a:lnTo>
                    <a:cubicBezTo>
                      <a:pt x="45086" y="30684"/>
                      <a:pt x="26510" y="684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E11D4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82040" y="2644140"/>
              <a:ext cx="7514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Gate 1</a:t>
              </a:r>
              <a:endParaRPr lang="zh-CN" sz="18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5850" y="3038475"/>
              <a:ext cx="18653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补齐 24 智能体定义</a:t>
              </a:r>
              <a:endParaRPr lang="zh-CN" sz="150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8708" y="3462814"/>
              <a:ext cx="12140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agent_cell_ids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8708" y="3729514"/>
              <a:ext cx="13415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动作映射与 mask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8708" y="39962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每个信号影响的 cell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76750" y="1828800"/>
              <a:ext cx="323850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807744" y="2193925"/>
              <a:ext cx="271463" cy="250825"/>
              <a:chOff x="4807744" y="2193925"/>
              <a:chExt cx="271463" cy="2508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807744" y="2314575"/>
                <a:ext cx="9048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05569"/>
                    </a:lnTo>
                    <a:cubicBezTo>
                      <a:pt x="90488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988719" y="2254250"/>
                <a:ext cx="90488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165894"/>
                    </a:lnTo>
                    <a:cubicBezTo>
                      <a:pt x="90488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4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898231" y="2193925"/>
                <a:ext cx="9048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24130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8" y="6752"/>
                      <a:pt x="90488" y="15081"/>
                    </a:cubicBezTo>
                    <a:lnTo>
                      <a:pt x="90488" y="226219"/>
                    </a:lnTo>
                    <a:cubicBezTo>
                      <a:pt x="90488" y="234548"/>
                      <a:pt x="83735" y="241300"/>
                      <a:pt x="75406" y="241300"/>
                    </a:cubicBezTo>
                    <a:lnTo>
                      <a:pt x="15081" y="241300"/>
                    </a:lnTo>
                    <a:cubicBezTo>
                      <a:pt x="6752" y="241300"/>
                      <a:pt x="0" y="234548"/>
                      <a:pt x="0" y="22621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822825" y="2435225"/>
                <a:ext cx="2111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8" h="9525">
                    <a:moveTo>
                      <a:pt x="0" y="0"/>
                    </a:moveTo>
                    <a:lnTo>
                      <a:pt x="211138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739640" y="2644140"/>
              <a:ext cx="8144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Gate 2</a:t>
              </a:r>
              <a:endParaRPr lang="zh-CN" sz="18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43450" y="3038475"/>
              <a:ext cx="18548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同预算 5 seed 对比</a:t>
              </a:r>
              <a:endParaRPr lang="zh-CN" sz="150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46308" y="3462814"/>
              <a:ext cx="65296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 QMIX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6308" y="3729514"/>
              <a:ext cx="8229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修正 QMIX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46308" y="3996214"/>
              <a:ext cx="4404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CDQN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34350" y="1828800"/>
              <a:ext cx="323850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465344" y="2178844"/>
              <a:ext cx="271462" cy="271462"/>
              <a:chOff x="8465344" y="2178844"/>
              <a:chExt cx="271462" cy="2714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585994" y="2299494"/>
                <a:ext cx="30163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30163">
                    <a:moveTo>
                      <a:pt x="0" y="15081"/>
                    </a:moveTo>
                    <a:cubicBezTo>
                      <a:pt x="0" y="23410"/>
                      <a:pt x="6752" y="30163"/>
                      <a:pt x="15081" y="30163"/>
                    </a:cubicBezTo>
                    <a:cubicBezTo>
                      <a:pt x="23410" y="30163"/>
                      <a:pt x="30163" y="23410"/>
                      <a:pt x="30163" y="15081"/>
                    </a:cubicBezTo>
                    <a:cubicBezTo>
                      <a:pt x="30163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25669" y="2239169"/>
                <a:ext cx="150812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150812" h="150812">
                    <a:moveTo>
                      <a:pt x="0" y="75406"/>
                    </a:moveTo>
                    <a:cubicBezTo>
                      <a:pt x="0" y="117052"/>
                      <a:pt x="33761" y="150812"/>
                      <a:pt x="75406" y="150812"/>
                    </a:cubicBezTo>
                    <a:cubicBezTo>
                      <a:pt x="117052" y="150812"/>
                      <a:pt x="150812" y="117052"/>
                      <a:pt x="150812" y="75406"/>
                    </a:cubicBezTo>
                    <a:cubicBezTo>
                      <a:pt x="150812" y="33761"/>
                      <a:pt x="117052" y="0"/>
                      <a:pt x="75406" y="0"/>
                    </a:cubicBezTo>
                    <a:cubicBezTo>
                      <a:pt x="33761" y="0"/>
                      <a:pt x="0" y="33761"/>
                      <a:pt x="0" y="75406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65344" y="217884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14B8A6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97240" y="2644140"/>
              <a:ext cx="8144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Gate 3</a:t>
              </a:r>
              <a:endParaRPr lang="zh-CN" sz="18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01050" y="30384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按指标决定是否替换</a:t>
              </a:r>
              <a:endParaRPr lang="zh-CN" sz="1500" b="1" dirty="0">
                <a:solidFill>
                  <a:srgbClr val="11182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3908" y="34628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完成率不差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03908" y="37295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疏散步数更短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03908" y="399621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火灾暴露不恶化</a:t>
              </a:r>
              <a:endParaRPr lang="zh-CN" sz="1275" dirty="0">
                <a:solidFill>
                  <a:srgbClr val="4755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04900" y="4762500"/>
            <a:ext cx="9982200" cy="704850"/>
            <a:chOff x="1104900" y="4762500"/>
            <a:chExt cx="9982200" cy="704850"/>
          </a:xfrm>
        </p:grpSpPr>
        <p:sp>
          <p:nvSpPr>
            <p:cNvPr id="39" name="Rectangle 39"/>
            <p:cNvSpPr/>
            <p:nvPr/>
          </p:nvSpPr>
          <p:spPr>
            <a:xfrm>
              <a:off x="1104900" y="4762500"/>
              <a:ext cx="9982200" cy="704850"/>
            </a:xfrm>
            <a:prstGeom prst="roundRect">
              <a:avLst>
                <a:gd name="adj" fmla="val 10811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12987" y="48891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当前结论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48275" y="5207318"/>
              <a:ext cx="16954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BEA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CDQN  24 智能体验证</a:t>
              </a:r>
              <a:endParaRPr lang="zh-CN" sz="1350" dirty="0">
                <a:solidFill>
                  <a:srgbClr val="DBEA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70660" y="5680710"/>
            <a:ext cx="5567172" cy="520065"/>
            <a:chOff x="1470660" y="5833110"/>
            <a:chExt cx="5567172" cy="520065"/>
          </a:xfrm>
        </p:grpSpPr>
        <p:sp>
          <p:nvSpPr>
            <p:cNvPr id="43" name="TextBox 43"/>
            <p:cNvSpPr txBox="1"/>
            <p:nvPr/>
          </p:nvSpPr>
          <p:spPr>
            <a:xfrm>
              <a:off x="1470660" y="58331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1F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服务器实验命令骨架</a:t>
              </a:r>
              <a:endParaRPr lang="zh-CN" sz="1200" b="1" dirty="0">
                <a:solidFill>
                  <a:srgbClr val="0B1F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70660" y="6109335"/>
              <a:ext cx="55671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python main.py --alg cascade_dqn --reward_norm --preset qmix_fixed</a:t>
              </a:r>
              <a:endParaRPr lang="zh-CN" sz="1200" dirty="0">
                <a:solidFill>
                  <a:srgbClr val="47556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264265" y="6382385"/>
            <a:ext cx="407670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r>
              <a:rPr lang="zh-CN" sz="1050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 / 10</a:t>
            </a:r>
            <a:endParaRPr lang="zh-CN" sz="1050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Line 43"/>
          <p:cNvSpPr/>
          <p:nvPr/>
        </p:nvSpPr>
        <p:spPr>
          <a:xfrm>
            <a:off x="546735" y="62865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45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2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3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4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5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6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7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8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9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10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ags/tag11.xml><?xml version="1.0" encoding="utf-8"?>
<p:tagLst xmlns:p="http://schemas.openxmlformats.org/presentationml/2006/main">
  <p:tag name="KSO_WM_DIAGRAM_VIRTUALLY_FRAME" val="{&quot;height&quot;:360.75,&quot;left&quot;:570,&quot;top&quot;:52.5,&quot;width&quot;:3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WPS 演示</Application>
  <PresentationFormat>On-screen Show (4:3)</PresentationFormat>
  <Paragraphs>344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浮生若茗</cp:lastModifiedBy>
  <cp:revision>9</cp:revision>
  <dcterms:created xsi:type="dcterms:W3CDTF">2013-01-27T09:14:00Z</dcterms:created>
  <dcterms:modified xsi:type="dcterms:W3CDTF">2026-07-15T12:29:56Z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CF4A1F4C3A404799A8497AE30F1F4343_12</vt:lpwstr>
  </property>
</Properties>
</file>